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4" r:id="rId4"/>
  </p:sldMasterIdLst>
  <p:notesMasterIdLst>
    <p:notesMasterId r:id="rId13"/>
  </p:notesMasterIdLst>
  <p:handoutMasterIdLst>
    <p:handoutMasterId r:id="rId14"/>
  </p:handoutMasterIdLst>
  <p:sldIdLst>
    <p:sldId id="2147376536" r:id="rId5"/>
    <p:sldId id="2147376541" r:id="rId6"/>
    <p:sldId id="2147376537" r:id="rId7"/>
    <p:sldId id="2147376538" r:id="rId8"/>
    <p:sldId id="2147376539" r:id="rId9"/>
    <p:sldId id="2147376540" r:id="rId10"/>
    <p:sldId id="2147376514" r:id="rId11"/>
    <p:sldId id="2147376542" r:id="rId12"/>
  </p:sldIdLst>
  <p:sldSz cx="50399950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33"/>
    <a:srgbClr val="E43B06"/>
    <a:srgbClr val="9E00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8" d="100"/>
          <a:sy n="18" d="100"/>
        </p:scale>
        <p:origin x="69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9D68BF5-1CAF-4F16-BB43-894D3A24F7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B6071C-6B65-7C8A-AF3B-03B067E72D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F0CDCF-ABD5-42F1-ADC7-E53B2F1A7CDA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5CADF0-6E3F-445D-FB2B-17574F01FD7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D9549E-49DA-E093-DE1F-80C1F4458D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710C1D-0AEA-434E-88A1-51F3A3839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964599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64EA0-FF17-41C5-A1A8-81996A2E79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Confidential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8951C-CD5B-4A30-B6BF-8DE7FA40D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24094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1pPr>
    <a:lvl2pPr marL="1814398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2pPr>
    <a:lvl3pPr marL="3628796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3pPr>
    <a:lvl4pPr marL="5443195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4pPr>
    <a:lvl5pPr marL="7257593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5pPr>
    <a:lvl6pPr marL="9071991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6pPr>
    <a:lvl7pPr marL="10886389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7pPr>
    <a:lvl8pPr marL="12700787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8pPr>
    <a:lvl9pPr marL="14515186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99994" y="4124164"/>
            <a:ext cx="37799963" cy="8773325"/>
          </a:xfrm>
        </p:spPr>
        <p:txBody>
          <a:bodyPr anchor="b"/>
          <a:lstStyle>
            <a:lvl1pPr algn="ctr">
              <a:defRPr sz="2204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9994" y="13235822"/>
            <a:ext cx="37799963" cy="6084159"/>
          </a:xfrm>
        </p:spPr>
        <p:txBody>
          <a:bodyPr/>
          <a:lstStyle>
            <a:lvl1pPr marL="0" indent="0" algn="ctr">
              <a:buNone/>
              <a:defRPr sz="8819"/>
            </a:lvl1pPr>
            <a:lvl2pPr marL="1679981" indent="0" algn="ctr">
              <a:buNone/>
              <a:defRPr sz="7349"/>
            </a:lvl2pPr>
            <a:lvl3pPr marL="3359963" indent="0" algn="ctr">
              <a:buNone/>
              <a:defRPr sz="6614"/>
            </a:lvl3pPr>
            <a:lvl4pPr marL="5039944" indent="0" algn="ctr">
              <a:buNone/>
              <a:defRPr sz="5879"/>
            </a:lvl4pPr>
            <a:lvl5pPr marL="6719926" indent="0" algn="ctr">
              <a:buNone/>
              <a:defRPr sz="5879"/>
            </a:lvl5pPr>
            <a:lvl6pPr marL="8399907" indent="0" algn="ctr">
              <a:buNone/>
              <a:defRPr sz="5879"/>
            </a:lvl6pPr>
            <a:lvl7pPr marL="10079888" indent="0" algn="ctr">
              <a:buNone/>
              <a:defRPr sz="5879"/>
            </a:lvl7pPr>
            <a:lvl8pPr marL="11759870" indent="0" algn="ctr">
              <a:buNone/>
              <a:defRPr sz="5879"/>
            </a:lvl8pPr>
            <a:lvl9pPr marL="13439851" indent="0" algn="ctr">
              <a:buNone/>
              <a:defRPr sz="587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9AA3F-3F80-4E43-A75C-B3E4B7B2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959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9AA3F-3F80-4E43-A75C-B3E4B7B2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094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747" y="6282497"/>
            <a:ext cx="43469957" cy="10482488"/>
          </a:xfrm>
        </p:spPr>
        <p:txBody>
          <a:bodyPr anchor="b"/>
          <a:lstStyle>
            <a:lvl1pPr>
              <a:defRPr sz="2204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747" y="16864153"/>
            <a:ext cx="43469957" cy="5512493"/>
          </a:xfrm>
        </p:spPr>
        <p:txBody>
          <a:bodyPr/>
          <a:lstStyle>
            <a:lvl1pPr marL="0" indent="0">
              <a:buNone/>
              <a:defRPr sz="8819">
                <a:solidFill>
                  <a:schemeClr val="tx1">
                    <a:tint val="75000"/>
                  </a:schemeClr>
                </a:solidFill>
              </a:defRPr>
            </a:lvl1pPr>
            <a:lvl2pPr marL="1679981" indent="0">
              <a:buNone/>
              <a:defRPr sz="7349">
                <a:solidFill>
                  <a:schemeClr val="tx1">
                    <a:tint val="75000"/>
                  </a:schemeClr>
                </a:solidFill>
              </a:defRPr>
            </a:lvl2pPr>
            <a:lvl3pPr marL="3359963" indent="0">
              <a:buNone/>
              <a:defRPr sz="6614">
                <a:solidFill>
                  <a:schemeClr val="tx1">
                    <a:tint val="75000"/>
                  </a:schemeClr>
                </a:solidFill>
              </a:defRPr>
            </a:lvl3pPr>
            <a:lvl4pPr marL="5039944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4pPr>
            <a:lvl5pPr marL="6719926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5pPr>
            <a:lvl6pPr marL="8399907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6pPr>
            <a:lvl7pPr marL="10079888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7pPr>
            <a:lvl8pPr marL="11759870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8pPr>
            <a:lvl9pPr marL="13439851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9AA3F-3F80-4E43-A75C-B3E4B7B2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317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4996" y="6708326"/>
            <a:ext cx="21419979" cy="1598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4975" y="6708326"/>
            <a:ext cx="21419979" cy="1598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9AA3F-3F80-4E43-A75C-B3E4B7B2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234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1" y="1341667"/>
            <a:ext cx="43469957" cy="48708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563" y="6177496"/>
            <a:ext cx="21321539" cy="3027495"/>
          </a:xfrm>
        </p:spPr>
        <p:txBody>
          <a:bodyPr anchor="b"/>
          <a:lstStyle>
            <a:lvl1pPr marL="0" indent="0">
              <a:buNone/>
              <a:defRPr sz="8819" b="1"/>
            </a:lvl1pPr>
            <a:lvl2pPr marL="1679981" indent="0">
              <a:buNone/>
              <a:defRPr sz="7349" b="1"/>
            </a:lvl2pPr>
            <a:lvl3pPr marL="3359963" indent="0">
              <a:buNone/>
              <a:defRPr sz="6614" b="1"/>
            </a:lvl3pPr>
            <a:lvl4pPr marL="5039944" indent="0">
              <a:buNone/>
              <a:defRPr sz="5879" b="1"/>
            </a:lvl4pPr>
            <a:lvl5pPr marL="6719926" indent="0">
              <a:buNone/>
              <a:defRPr sz="5879" b="1"/>
            </a:lvl5pPr>
            <a:lvl6pPr marL="8399907" indent="0">
              <a:buNone/>
              <a:defRPr sz="5879" b="1"/>
            </a:lvl6pPr>
            <a:lvl7pPr marL="10079888" indent="0">
              <a:buNone/>
              <a:defRPr sz="5879" b="1"/>
            </a:lvl7pPr>
            <a:lvl8pPr marL="11759870" indent="0">
              <a:buNone/>
              <a:defRPr sz="5879" b="1"/>
            </a:lvl8pPr>
            <a:lvl9pPr marL="13439851" indent="0">
              <a:buNone/>
              <a:defRPr sz="58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563" y="9204991"/>
            <a:ext cx="21321539" cy="13539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4975" y="6177496"/>
            <a:ext cx="21426543" cy="3027495"/>
          </a:xfrm>
        </p:spPr>
        <p:txBody>
          <a:bodyPr anchor="b"/>
          <a:lstStyle>
            <a:lvl1pPr marL="0" indent="0">
              <a:buNone/>
              <a:defRPr sz="8819" b="1"/>
            </a:lvl1pPr>
            <a:lvl2pPr marL="1679981" indent="0">
              <a:buNone/>
              <a:defRPr sz="7349" b="1"/>
            </a:lvl2pPr>
            <a:lvl3pPr marL="3359963" indent="0">
              <a:buNone/>
              <a:defRPr sz="6614" b="1"/>
            </a:lvl3pPr>
            <a:lvl4pPr marL="5039944" indent="0">
              <a:buNone/>
              <a:defRPr sz="5879" b="1"/>
            </a:lvl4pPr>
            <a:lvl5pPr marL="6719926" indent="0">
              <a:buNone/>
              <a:defRPr sz="5879" b="1"/>
            </a:lvl5pPr>
            <a:lvl6pPr marL="8399907" indent="0">
              <a:buNone/>
              <a:defRPr sz="5879" b="1"/>
            </a:lvl6pPr>
            <a:lvl7pPr marL="10079888" indent="0">
              <a:buNone/>
              <a:defRPr sz="5879" b="1"/>
            </a:lvl7pPr>
            <a:lvl8pPr marL="11759870" indent="0">
              <a:buNone/>
              <a:defRPr sz="5879" b="1"/>
            </a:lvl8pPr>
            <a:lvl9pPr marL="13439851" indent="0">
              <a:buNone/>
              <a:defRPr sz="58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4975" y="9204991"/>
            <a:ext cx="21426543" cy="13539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9AA3F-3F80-4E43-A75C-B3E4B7B2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926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9AA3F-3F80-4E43-A75C-B3E4B7B2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342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9AA3F-3F80-4E43-A75C-B3E4B7B2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96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3" y="1679998"/>
            <a:ext cx="16255294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6543" y="3628331"/>
            <a:ext cx="25514975" cy="17908316"/>
          </a:xfrm>
        </p:spPr>
        <p:txBody>
          <a:bodyPr/>
          <a:lstStyle>
            <a:lvl1pPr>
              <a:defRPr sz="11758"/>
            </a:lvl1pPr>
            <a:lvl2pPr>
              <a:defRPr sz="10289"/>
            </a:lvl2pPr>
            <a:lvl3pPr>
              <a:defRPr sz="8819"/>
            </a:lvl3pPr>
            <a:lvl4pPr>
              <a:defRPr sz="7349"/>
            </a:lvl4pPr>
            <a:lvl5pPr>
              <a:defRPr sz="7349"/>
            </a:lvl5pPr>
            <a:lvl6pPr>
              <a:defRPr sz="7349"/>
            </a:lvl6pPr>
            <a:lvl7pPr>
              <a:defRPr sz="7349"/>
            </a:lvl7pPr>
            <a:lvl8pPr>
              <a:defRPr sz="7349"/>
            </a:lvl8pPr>
            <a:lvl9pPr>
              <a:defRPr sz="73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563" y="7559993"/>
            <a:ext cx="16255294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81" indent="0">
              <a:buNone/>
              <a:defRPr sz="5144"/>
            </a:lvl2pPr>
            <a:lvl3pPr marL="3359963" indent="0">
              <a:buNone/>
              <a:defRPr sz="4409"/>
            </a:lvl3pPr>
            <a:lvl4pPr marL="5039944" indent="0">
              <a:buNone/>
              <a:defRPr sz="3674"/>
            </a:lvl4pPr>
            <a:lvl5pPr marL="6719926" indent="0">
              <a:buNone/>
              <a:defRPr sz="3674"/>
            </a:lvl5pPr>
            <a:lvl6pPr marL="8399907" indent="0">
              <a:buNone/>
              <a:defRPr sz="3674"/>
            </a:lvl6pPr>
            <a:lvl7pPr marL="10079888" indent="0">
              <a:buNone/>
              <a:defRPr sz="3674"/>
            </a:lvl7pPr>
            <a:lvl8pPr marL="11759870" indent="0">
              <a:buNone/>
              <a:defRPr sz="3674"/>
            </a:lvl8pPr>
            <a:lvl9pPr marL="13439851" indent="0">
              <a:buNone/>
              <a:defRPr sz="36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9AA3F-3F80-4E43-A75C-B3E4B7B2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091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3" y="1679998"/>
            <a:ext cx="16255294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6543" y="3628331"/>
            <a:ext cx="25514975" cy="17908316"/>
          </a:xfrm>
        </p:spPr>
        <p:txBody>
          <a:bodyPr anchor="t"/>
          <a:lstStyle>
            <a:lvl1pPr marL="0" indent="0">
              <a:buNone/>
              <a:defRPr sz="11758"/>
            </a:lvl1pPr>
            <a:lvl2pPr marL="1679981" indent="0">
              <a:buNone/>
              <a:defRPr sz="10289"/>
            </a:lvl2pPr>
            <a:lvl3pPr marL="3359963" indent="0">
              <a:buNone/>
              <a:defRPr sz="8819"/>
            </a:lvl3pPr>
            <a:lvl4pPr marL="5039944" indent="0">
              <a:buNone/>
              <a:defRPr sz="7349"/>
            </a:lvl4pPr>
            <a:lvl5pPr marL="6719926" indent="0">
              <a:buNone/>
              <a:defRPr sz="7349"/>
            </a:lvl5pPr>
            <a:lvl6pPr marL="8399907" indent="0">
              <a:buNone/>
              <a:defRPr sz="7349"/>
            </a:lvl6pPr>
            <a:lvl7pPr marL="10079888" indent="0">
              <a:buNone/>
              <a:defRPr sz="7349"/>
            </a:lvl7pPr>
            <a:lvl8pPr marL="11759870" indent="0">
              <a:buNone/>
              <a:defRPr sz="7349"/>
            </a:lvl8pPr>
            <a:lvl9pPr marL="13439851" indent="0">
              <a:buNone/>
              <a:defRPr sz="7349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563" y="7559993"/>
            <a:ext cx="16255294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81" indent="0">
              <a:buNone/>
              <a:defRPr sz="5144"/>
            </a:lvl2pPr>
            <a:lvl3pPr marL="3359963" indent="0">
              <a:buNone/>
              <a:defRPr sz="4409"/>
            </a:lvl3pPr>
            <a:lvl4pPr marL="5039944" indent="0">
              <a:buNone/>
              <a:defRPr sz="3674"/>
            </a:lvl4pPr>
            <a:lvl5pPr marL="6719926" indent="0">
              <a:buNone/>
              <a:defRPr sz="3674"/>
            </a:lvl5pPr>
            <a:lvl6pPr marL="8399907" indent="0">
              <a:buNone/>
              <a:defRPr sz="3674"/>
            </a:lvl6pPr>
            <a:lvl7pPr marL="10079888" indent="0">
              <a:buNone/>
              <a:defRPr sz="3674"/>
            </a:lvl7pPr>
            <a:lvl8pPr marL="11759870" indent="0">
              <a:buNone/>
              <a:defRPr sz="3674"/>
            </a:lvl8pPr>
            <a:lvl9pPr marL="13439851" indent="0">
              <a:buNone/>
              <a:defRPr sz="36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9AA3F-3F80-4E43-A75C-B3E4B7B2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269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9AA3F-3F80-4E43-A75C-B3E4B7B2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937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7464" y="1341665"/>
            <a:ext cx="10867489" cy="213558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4997" y="1341665"/>
            <a:ext cx="31972468" cy="213558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9AA3F-3F80-4E43-A75C-B3E4B7B2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992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ur team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883750" y="7317704"/>
            <a:ext cx="5279994" cy="4692002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367"/>
            </a:lvl1pPr>
          </a:lstStyle>
          <a:p>
            <a:pPr lvl="0"/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883750" y="12899668"/>
            <a:ext cx="5279994" cy="4692002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367"/>
            </a:lvl1pPr>
          </a:lstStyle>
          <a:p>
            <a:pPr lvl="0"/>
            <a:endParaRPr lang="en-US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883750" y="18481635"/>
            <a:ext cx="5279994" cy="4692002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367"/>
            </a:lvl1pPr>
          </a:lstStyle>
          <a:p>
            <a:pPr lvl="0"/>
            <a:endParaRPr lang="en-US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7563736" y="7317704"/>
            <a:ext cx="5279994" cy="4692002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367"/>
            </a:lvl1pPr>
          </a:lstStyle>
          <a:p>
            <a:pPr lvl="0"/>
            <a:endParaRPr 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7563736" y="12899668"/>
            <a:ext cx="5279994" cy="4692002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367"/>
            </a:lvl1pPr>
          </a:lstStyle>
          <a:p>
            <a:pPr lvl="0"/>
            <a:endParaRPr lang="en-US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33243722" y="7317704"/>
            <a:ext cx="5279994" cy="4692002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367"/>
            </a:lvl1pPr>
          </a:lstStyle>
          <a:p>
            <a:pPr lvl="0"/>
            <a:endParaRPr lang="en-US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33243722" y="12899668"/>
            <a:ext cx="5279994" cy="4692002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367"/>
            </a:lvl1pPr>
          </a:lstStyle>
          <a:p>
            <a:pPr lvl="0"/>
            <a:endParaRPr lang="en-US"/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33243722" y="18481635"/>
            <a:ext cx="5279994" cy="4692002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367"/>
            </a:lvl1pPr>
          </a:lstStyle>
          <a:p>
            <a:pPr lvl="0"/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7563736" y="18481635"/>
            <a:ext cx="5279994" cy="4692002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367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49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4997" y="1341667"/>
            <a:ext cx="43469957" cy="487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997" y="6708326"/>
            <a:ext cx="43469957" cy="15989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4996" y="23356646"/>
            <a:ext cx="11339989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4984" y="23356646"/>
            <a:ext cx="17009983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4965" y="23356646"/>
            <a:ext cx="11339989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9AA3F-3F80-4E43-A75C-B3E4B7B2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723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  <p:sldLayoutId id="2147483916" r:id="rId12"/>
  </p:sldLayoutIdLst>
  <p:hf sldNum="0" hdr="0" ftr="0" dt="0"/>
  <p:txStyles>
    <p:titleStyle>
      <a:lvl1pPr algn="l" defTabSz="3359963" rtl="0" eaLnBrk="1" latinLnBrk="0" hangingPunct="1">
        <a:lnSpc>
          <a:spcPct val="90000"/>
        </a:lnSpc>
        <a:spcBef>
          <a:spcPct val="0"/>
        </a:spcBef>
        <a:buNone/>
        <a:defRPr sz="161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991" indent="-839991" algn="l" defTabSz="3359963" rtl="0" eaLnBrk="1" latinLnBrk="0" hangingPunct="1">
        <a:lnSpc>
          <a:spcPct val="90000"/>
        </a:lnSpc>
        <a:spcBef>
          <a:spcPts val="3674"/>
        </a:spcBef>
        <a:buFont typeface="Arial" panose="020B0604020202020204" pitchFamily="34" charset="0"/>
        <a:buChar char="•"/>
        <a:defRPr sz="10289" kern="1200">
          <a:solidFill>
            <a:schemeClr val="tx1"/>
          </a:solidFill>
          <a:latin typeface="+mn-lt"/>
          <a:ea typeface="+mn-ea"/>
          <a:cs typeface="+mn-cs"/>
        </a:defRPr>
      </a:lvl1pPr>
      <a:lvl2pPr marL="2519972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2pPr>
      <a:lvl3pPr marL="4199954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7349" kern="1200">
          <a:solidFill>
            <a:schemeClr val="tx1"/>
          </a:solidFill>
          <a:latin typeface="+mn-lt"/>
          <a:ea typeface="+mn-ea"/>
          <a:cs typeface="+mn-cs"/>
        </a:defRPr>
      </a:lvl3pPr>
      <a:lvl4pPr marL="5879935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4pPr>
      <a:lvl5pPr marL="7559916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5pPr>
      <a:lvl6pPr marL="9239898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6pPr>
      <a:lvl7pPr marL="10919879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7pPr>
      <a:lvl8pPr marL="12599861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8pPr>
      <a:lvl9pPr marL="14279842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79981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359963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039944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4pPr>
      <a:lvl5pPr marL="6719926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5pPr>
      <a:lvl6pPr marL="8399907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6pPr>
      <a:lvl7pPr marL="10079888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7pPr>
      <a:lvl8pPr marL="11759870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8pPr>
      <a:lvl9pPr marL="13439851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0CF8E-BC99-5726-23F1-15F2E505F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C4EC28-96BB-90FD-CE21-38AB99099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25199975" cy="251999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2BDC38E-676E-CCC4-8EE0-74217BC78247}"/>
              </a:ext>
            </a:extLst>
          </p:cNvPr>
          <p:cNvSpPr/>
          <p:nvPr/>
        </p:nvSpPr>
        <p:spPr>
          <a:xfrm>
            <a:off x="26811572" y="2683046"/>
            <a:ext cx="22261228" cy="207006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47" b="1" dirty="0">
                <a:solidFill>
                  <a:srgbClr val="9E003D"/>
                </a:solidFill>
                <a:latin typeface="Aptos" panose="020B0004020202020204" pitchFamily="34" charset="0"/>
              </a:rPr>
              <a:t>AI Research Asset Showcase</a:t>
            </a:r>
          </a:p>
          <a:p>
            <a:pPr algn="ctr"/>
            <a:endParaRPr lang="en-IN" sz="22047" b="1" dirty="0">
              <a:solidFill>
                <a:srgbClr val="9E003D"/>
              </a:solidFill>
              <a:latin typeface="Aptos" panose="020B0004020202020204" pitchFamily="34" charset="0"/>
            </a:endParaRPr>
          </a:p>
          <a:p>
            <a:pPr algn="ctr"/>
            <a:r>
              <a:rPr lang="en-IN" sz="15300" b="1" dirty="0">
                <a:solidFill>
                  <a:srgbClr val="9E003D"/>
                </a:solidFill>
                <a:latin typeface="Aptos" panose="020B0004020202020204" pitchFamily="34" charset="0"/>
              </a:rPr>
              <a:t>Agentic AI Confluence JUL 2026</a:t>
            </a:r>
          </a:p>
          <a:p>
            <a:pPr algn="ctr"/>
            <a:endParaRPr lang="en-IN" sz="15300" b="1" dirty="0">
              <a:solidFill>
                <a:srgbClr val="9E003D"/>
              </a:solidFill>
              <a:latin typeface="Aptos" panose="020B0004020202020204" pitchFamily="34" charset="0"/>
            </a:endParaRPr>
          </a:p>
          <a:p>
            <a:pPr algn="ctr"/>
            <a:r>
              <a:rPr lang="en-IN" sz="15300" b="1" dirty="0">
                <a:solidFill>
                  <a:srgbClr val="9E003D"/>
                </a:solidFill>
                <a:latin typeface="Aptos" panose="020B0004020202020204" pitchFamily="34" charset="0"/>
              </a:rPr>
              <a:t>@Nasscom</a:t>
            </a:r>
          </a:p>
        </p:txBody>
      </p:sp>
    </p:spTree>
    <p:extLst>
      <p:ext uri="{BB962C8B-B14F-4D97-AF65-F5344CB8AC3E}">
        <p14:creationId xmlns:p14="http://schemas.microsoft.com/office/powerpoint/2010/main" val="1601393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7E2D6-C289-0AC4-5813-E56A133F0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3C92E3-94DC-F61E-FA98-2CB23475D5E6}"/>
              </a:ext>
            </a:extLst>
          </p:cNvPr>
          <p:cNvSpPr/>
          <p:nvPr/>
        </p:nvSpPr>
        <p:spPr>
          <a:xfrm>
            <a:off x="1972829" y="1848751"/>
            <a:ext cx="46454291" cy="1855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800" b="1" dirty="0">
                <a:solidFill>
                  <a:srgbClr val="9E003D"/>
                </a:solidFill>
                <a:latin typeface="Aptos" panose="020B0004020202020204" pitchFamily="34" charset="0"/>
              </a:rPr>
              <a:t>The following slides are only high level guidance</a:t>
            </a:r>
          </a:p>
          <a:p>
            <a:endParaRPr lang="en-IN" sz="12800" b="1" dirty="0">
              <a:solidFill>
                <a:srgbClr val="9E003D"/>
              </a:solidFill>
              <a:latin typeface="Aptos" panose="020B0004020202020204" pitchFamily="34" charset="0"/>
            </a:endParaRPr>
          </a:p>
          <a:p>
            <a:r>
              <a:rPr lang="en-IN" sz="12800" b="1" dirty="0">
                <a:solidFill>
                  <a:srgbClr val="9E003D"/>
                </a:solidFill>
                <a:latin typeface="Aptos" panose="020B0004020202020204" pitchFamily="34" charset="0"/>
              </a:rPr>
              <a:t>Please create your own slides. No need to follow the exact verbiage and bullets…it’s included only as an example here</a:t>
            </a:r>
          </a:p>
          <a:p>
            <a:endParaRPr lang="en-IN" sz="12800" b="1" dirty="0">
              <a:solidFill>
                <a:srgbClr val="9E003D"/>
              </a:solidFill>
              <a:latin typeface="Aptos" panose="020B0004020202020204" pitchFamily="34" charset="0"/>
            </a:endParaRPr>
          </a:p>
          <a:p>
            <a:r>
              <a:rPr lang="en-IN" sz="12800" b="1" dirty="0">
                <a:solidFill>
                  <a:srgbClr val="9E003D"/>
                </a:solidFill>
                <a:latin typeface="Aptos" panose="020B0004020202020204" pitchFamily="34" charset="0"/>
              </a:rPr>
              <a:t>Please include 4 slides in the sequence</a:t>
            </a:r>
          </a:p>
          <a:p>
            <a:pPr marL="1143000" indent="-1143000">
              <a:buFont typeface="Wingdings" panose="05000000000000000000" pitchFamily="2" charset="2"/>
              <a:buChar char="§"/>
            </a:pPr>
            <a:r>
              <a:rPr lang="en-IN" sz="8000" b="1" dirty="0">
                <a:solidFill>
                  <a:srgbClr val="9E003D"/>
                </a:solidFill>
                <a:latin typeface="Aptos" panose="020B0004020202020204" pitchFamily="34" charset="0"/>
              </a:rPr>
              <a:t>Introduction &amp; Problem Statement</a:t>
            </a:r>
          </a:p>
          <a:p>
            <a:pPr marL="1143000" indent="-1143000">
              <a:buFont typeface="Wingdings" panose="05000000000000000000" pitchFamily="2" charset="2"/>
              <a:buChar char="§"/>
            </a:pPr>
            <a:r>
              <a:rPr lang="en-IN" sz="8000" b="1" dirty="0">
                <a:solidFill>
                  <a:srgbClr val="9E003D"/>
                </a:solidFill>
                <a:latin typeface="Aptos" panose="020B0004020202020204" pitchFamily="34" charset="0"/>
              </a:rPr>
              <a:t>Research Incubation / Solution</a:t>
            </a:r>
          </a:p>
          <a:p>
            <a:pPr marL="1143000" indent="-1143000">
              <a:buFont typeface="Wingdings" panose="05000000000000000000" pitchFamily="2" charset="2"/>
              <a:buChar char="§"/>
            </a:pPr>
            <a:r>
              <a:rPr lang="en-IN" sz="8000" b="1" dirty="0">
                <a:solidFill>
                  <a:srgbClr val="9E003D"/>
                </a:solidFill>
                <a:latin typeface="Aptos" panose="020B0004020202020204" pitchFamily="34" charset="0"/>
              </a:rPr>
              <a:t>Productization Stage &amp; Results</a:t>
            </a:r>
          </a:p>
          <a:p>
            <a:pPr marL="1143000" indent="-1143000">
              <a:buFont typeface="Wingdings" panose="05000000000000000000" pitchFamily="2" charset="2"/>
              <a:buChar char="§"/>
            </a:pPr>
            <a:r>
              <a:rPr lang="en-IN" sz="8000" b="1" dirty="0">
                <a:solidFill>
                  <a:srgbClr val="9E003D"/>
                </a:solidFill>
                <a:latin typeface="Aptos" panose="020B0004020202020204" pitchFamily="34" charset="0"/>
              </a:rPr>
              <a:t>Market Research, Business Model and asset scalability</a:t>
            </a:r>
            <a:endParaRPr lang="en-IN" sz="22047" b="1" dirty="0">
              <a:solidFill>
                <a:srgbClr val="9E003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941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865806F-F042-27D2-AE3E-D876A810050E}"/>
              </a:ext>
            </a:extLst>
          </p:cNvPr>
          <p:cNvSpPr txBox="1"/>
          <p:nvPr/>
        </p:nvSpPr>
        <p:spPr>
          <a:xfrm>
            <a:off x="1304364" y="9136476"/>
            <a:ext cx="23895611" cy="1431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u="sng" dirty="0">
                <a:latin typeface="Segoe UI Variable Display" pitchFamily="2" charset="0"/>
              </a:rPr>
              <a:t>Industry Application</a:t>
            </a:r>
            <a:endParaRPr lang="en-US" sz="6600" u="sng" dirty="0">
              <a:latin typeface="Segoe UI Variable Display" pitchFamily="2" charset="0"/>
            </a:endParaRPr>
          </a:p>
          <a:p>
            <a:r>
              <a:rPr lang="en-US" sz="6600" b="1" dirty="0" err="1">
                <a:latin typeface="Segoe UI Variable Display" pitchFamily="2" charset="0"/>
              </a:rPr>
              <a:t>e.g</a:t>
            </a:r>
            <a:endParaRPr lang="en-US" sz="6600" b="1" dirty="0">
              <a:latin typeface="Segoe UI Variable Display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b="1" dirty="0">
                <a:latin typeface="Segoe UI Variable Display" pitchFamily="2" charset="0"/>
              </a:rPr>
              <a:t>Healthcare diagnostics</a:t>
            </a:r>
            <a:r>
              <a:rPr lang="en-US" sz="6600" dirty="0">
                <a:latin typeface="Segoe UI Variable Display" pitchFamily="2" charset="0"/>
              </a:rPr>
              <a:t>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b="1" dirty="0">
                <a:latin typeface="Segoe UI Variable Display" pitchFamily="2" charset="0"/>
              </a:rPr>
              <a:t>Environmental monitoring</a:t>
            </a:r>
            <a:r>
              <a:rPr lang="en-US" sz="6600" dirty="0">
                <a:latin typeface="Segoe UI Variable Display" pitchFamily="2" charset="0"/>
              </a:rPr>
              <a:t>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6600" dirty="0">
              <a:latin typeface="Segoe UI Variable Display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6600" dirty="0">
              <a:latin typeface="Segoe UI Variable Display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6600" dirty="0">
              <a:latin typeface="Segoe UI Variable Display" pitchFamily="2" charset="0"/>
            </a:endParaRPr>
          </a:p>
          <a:p>
            <a:endParaRPr lang="en-US" sz="6600" b="1" dirty="0">
              <a:latin typeface="Segoe UI Variable Display" pitchFamily="2" charset="0"/>
            </a:endParaRPr>
          </a:p>
          <a:p>
            <a:r>
              <a:rPr lang="en-US" sz="6600" b="1" u="sng" dirty="0">
                <a:latin typeface="Segoe UI Variable Display" pitchFamily="2" charset="0"/>
              </a:rPr>
              <a:t>Stage of Development</a:t>
            </a:r>
            <a:endParaRPr lang="en-US" sz="6600" u="sng" dirty="0">
              <a:latin typeface="Segoe UI Variable Display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latin typeface="Segoe UI Variable Display" pitchFamily="2" charset="0"/>
              </a:rPr>
              <a:t>Current state of development of the asset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6600" dirty="0">
              <a:latin typeface="Segoe UI Variable Display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6600" dirty="0">
              <a:latin typeface="Segoe UI Variable Display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6600" dirty="0">
              <a:latin typeface="Segoe UI Variable Display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6600" dirty="0">
              <a:latin typeface="Segoe UI Variable Display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18E774-5E38-4155-A4D6-EB5D3C312F6A}"/>
              </a:ext>
            </a:extLst>
          </p:cNvPr>
          <p:cNvSpPr/>
          <p:nvPr/>
        </p:nvSpPr>
        <p:spPr>
          <a:xfrm>
            <a:off x="24006175" y="3010782"/>
            <a:ext cx="25199975" cy="1938992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sz="6600" b="1" u="sng" dirty="0">
                <a:solidFill>
                  <a:prstClr val="black"/>
                </a:solidFill>
                <a:latin typeface="Segoe UI Variable Display" pitchFamily="2" charset="0"/>
              </a:rPr>
              <a:t>Business Motivation</a:t>
            </a:r>
            <a:endParaRPr lang="en-US" sz="6600" u="sng" dirty="0">
              <a:solidFill>
                <a:prstClr val="black"/>
              </a:solidFill>
              <a:latin typeface="Segoe UI Variable Display" pitchFamily="2" charset="0"/>
            </a:endParaRP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6600" b="1" dirty="0">
                <a:solidFill>
                  <a:prstClr val="black"/>
                </a:solidFill>
                <a:latin typeface="Segoe UI Variable Display" pitchFamily="2" charset="0"/>
              </a:rPr>
              <a:t>95% cheaper</a:t>
            </a:r>
            <a:r>
              <a:rPr lang="en-US" sz="6600" dirty="0">
                <a:solidFill>
                  <a:prstClr val="black"/>
                </a:solidFill>
                <a:latin typeface="Segoe UI Variable Display" pitchFamily="2" charset="0"/>
              </a:rPr>
              <a:t> compared to current available products in mkt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6600" b="1" dirty="0">
                <a:solidFill>
                  <a:prstClr val="black"/>
                </a:solidFill>
                <a:latin typeface="Segoe UI Variable Display" pitchFamily="2" charset="0"/>
              </a:rPr>
              <a:t>10x faster results</a:t>
            </a:r>
            <a:r>
              <a:rPr lang="en-US" sz="6600" dirty="0">
                <a:solidFill>
                  <a:prstClr val="black"/>
                </a:solidFill>
                <a:latin typeface="Segoe UI Variable Display" pitchFamily="2" charset="0"/>
              </a:rPr>
              <a:t> with user-friendly and low-maintenance operation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prstClr val="black"/>
                </a:solidFill>
                <a:latin typeface="Segoe UI Variable Display" pitchFamily="2" charset="0"/>
              </a:rPr>
              <a:t>Scalable and cloud-integrated 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prstClr val="black"/>
                </a:solidFill>
                <a:latin typeface="Segoe UI Variable Display" pitchFamily="2" charset="0"/>
              </a:rPr>
              <a:t>Sustainable </a:t>
            </a:r>
            <a:r>
              <a:rPr lang="en-US" sz="6600" b="1" dirty="0">
                <a:solidFill>
                  <a:prstClr val="black"/>
                </a:solidFill>
                <a:latin typeface="Segoe UI Variable Display" pitchFamily="2" charset="0"/>
              </a:rPr>
              <a:t>……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6600" b="1" dirty="0">
                <a:solidFill>
                  <a:prstClr val="black"/>
                </a:solidFill>
                <a:latin typeface="Segoe UI Variable Display" pitchFamily="2" charset="0"/>
              </a:rPr>
              <a:t>…….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6600" b="1" dirty="0">
                <a:solidFill>
                  <a:prstClr val="black"/>
                </a:solidFill>
                <a:latin typeface="Segoe UI Variable Display" pitchFamily="2" charset="0"/>
              </a:rPr>
              <a:t>…..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6600" b="1" dirty="0">
                <a:solidFill>
                  <a:prstClr val="black"/>
                </a:solidFill>
                <a:latin typeface="Segoe UI Variable Display" pitchFamily="2" charset="0"/>
              </a:rPr>
              <a:t>…</a:t>
            </a:r>
            <a:endParaRPr lang="en-US" sz="6600" dirty="0">
              <a:solidFill>
                <a:prstClr val="black"/>
              </a:solidFill>
              <a:latin typeface="Segoe UI Variable Display" pitchFamily="2" charset="0"/>
            </a:endParaRPr>
          </a:p>
          <a:p>
            <a:pPr lvl="0"/>
            <a:endParaRPr lang="en-US" sz="6600" b="1" dirty="0">
              <a:solidFill>
                <a:prstClr val="black"/>
              </a:solidFill>
              <a:latin typeface="Segoe UI Variable Display" pitchFamily="2" charset="0"/>
            </a:endParaRPr>
          </a:p>
          <a:p>
            <a:pPr lvl="0"/>
            <a:r>
              <a:rPr lang="en-US" sz="6600" b="1" u="sng" dirty="0">
                <a:solidFill>
                  <a:prstClr val="black"/>
                </a:solidFill>
                <a:latin typeface="Segoe UI Variable Display" pitchFamily="2" charset="0"/>
              </a:rPr>
              <a:t>Social Impact</a:t>
            </a:r>
            <a:endParaRPr lang="en-US" sz="6600" u="sng" dirty="0">
              <a:solidFill>
                <a:prstClr val="black"/>
              </a:solidFill>
              <a:latin typeface="Segoe UI Variable Display" pitchFamily="2" charset="0"/>
            </a:endParaRP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prstClr val="black"/>
                </a:solidFill>
                <a:latin typeface="Segoe UI Variable Display" pitchFamily="2" charset="0"/>
              </a:rPr>
              <a:t>Democratizes access to affordable diagnostics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prstClr val="black"/>
                </a:solidFill>
                <a:latin typeface="Segoe UI Variable Display" pitchFamily="2" charset="0"/>
              </a:rPr>
              <a:t>Enables faster decision-making in healthcare and environmental safety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prstClr val="black"/>
                </a:solidFill>
                <a:latin typeface="Segoe UI Variable Display" pitchFamily="2" charset="0"/>
              </a:rPr>
              <a:t>Supports </a:t>
            </a:r>
            <a:r>
              <a:rPr lang="en-US" sz="6600" b="1" dirty="0">
                <a:solidFill>
                  <a:prstClr val="black"/>
                </a:solidFill>
                <a:latin typeface="Segoe UI Variable Display" pitchFamily="2" charset="0"/>
              </a:rPr>
              <a:t>accessible, portable, and green technologies</a:t>
            </a:r>
            <a:r>
              <a:rPr lang="en-US" sz="6600" dirty="0">
                <a:solidFill>
                  <a:prstClr val="black"/>
                </a:solidFill>
                <a:latin typeface="Segoe UI Variable Display" pitchFamily="2" charset="0"/>
              </a:rPr>
              <a:t> for global benefit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prstClr val="black"/>
                </a:solidFill>
                <a:latin typeface="Segoe UI Variable Display" pitchFamily="2" charset="0"/>
              </a:rPr>
              <a:t>…………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prstClr val="black"/>
                </a:solidFill>
                <a:latin typeface="Segoe UI Variable Display" pitchFamily="2" charset="0"/>
              </a:rPr>
              <a:t>……..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prstClr val="black"/>
                </a:solidFill>
                <a:latin typeface="Segoe UI Variable Display" pitchFamily="2" charset="0"/>
              </a:rPr>
              <a:t>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F0A96A-6FAE-425E-B768-5B1B2DB6E609}"/>
              </a:ext>
            </a:extLst>
          </p:cNvPr>
          <p:cNvSpPr/>
          <p:nvPr/>
        </p:nvSpPr>
        <p:spPr>
          <a:xfrm>
            <a:off x="1304364" y="3848984"/>
            <a:ext cx="4790178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6600" b="1" dirty="0">
                <a:solidFill>
                  <a:prstClr val="black"/>
                </a:solidFill>
                <a:latin typeface="Segoe UI Variable Display" pitchFamily="2" charset="0"/>
              </a:rPr>
              <a:t>Problem Statement</a:t>
            </a:r>
            <a:br>
              <a:rPr lang="en-US" sz="6600" dirty="0">
                <a:solidFill>
                  <a:prstClr val="black"/>
                </a:solidFill>
                <a:latin typeface="Segoe UI Variable Display" pitchFamily="2" charset="0"/>
              </a:rPr>
            </a:br>
            <a:r>
              <a:rPr lang="en-US" sz="6600" dirty="0">
                <a:solidFill>
                  <a:prstClr val="black"/>
                </a:solidFill>
                <a:latin typeface="Segoe UI Variable Display" pitchFamily="2" charset="0"/>
              </a:rPr>
              <a:t>What is the key problem this asset is destined to solve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586FA1-E4C5-4DF7-999F-D41441624065}"/>
              </a:ext>
            </a:extLst>
          </p:cNvPr>
          <p:cNvSpPr/>
          <p:nvPr/>
        </p:nvSpPr>
        <p:spPr>
          <a:xfrm>
            <a:off x="1304364" y="1148734"/>
            <a:ext cx="22556175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0" dirty="0">
                <a:solidFill>
                  <a:prstClr val="black"/>
                </a:solidFill>
                <a:latin typeface="Segoe UI Variable Display" pitchFamily="2" charset="0"/>
              </a:rPr>
              <a:t>Introduction &amp; Problem Statement</a:t>
            </a:r>
            <a:endParaRPr lang="en-US" sz="3600" dirty="0">
              <a:latin typeface="Segoe UI Variable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053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9E064-E58A-33C8-C91B-23F195E60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84BE03-ECF7-1B33-56BF-96A0818C688C}"/>
              </a:ext>
            </a:extLst>
          </p:cNvPr>
          <p:cNvSpPr txBox="1"/>
          <p:nvPr/>
        </p:nvSpPr>
        <p:spPr>
          <a:xfrm>
            <a:off x="1361514" y="3874036"/>
            <a:ext cx="44402028" cy="2040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600" b="1" dirty="0">
                <a:latin typeface="Segoe UI Variable Display" pitchFamily="2" charset="0"/>
              </a:rPr>
              <a:t>Business Offering</a:t>
            </a:r>
            <a:endParaRPr lang="en-IN" sz="6600" dirty="0">
              <a:latin typeface="Segoe UI Variable Display" pitchFamily="2" charset="0"/>
            </a:endParaRP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IN" sz="6600" dirty="0">
                <a:latin typeface="Segoe UI Variable Display" pitchFamily="2" charset="0"/>
              </a:rPr>
              <a:t>Portable, robust, and environmentally friendly platform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IN" sz="6600" dirty="0">
                <a:latin typeface="Segoe UI Variable Display" pitchFamily="2" charset="0"/>
              </a:rPr>
              <a:t>Integrated with </a:t>
            </a:r>
            <a:r>
              <a:rPr lang="en-IN" sz="6600" b="1" dirty="0">
                <a:latin typeface="Segoe UI Variable Display" pitchFamily="2" charset="0"/>
              </a:rPr>
              <a:t>cloud</a:t>
            </a:r>
            <a:endParaRPr lang="en-IN" sz="6600" dirty="0">
              <a:latin typeface="Segoe UI Variable Display" pitchFamily="2" charset="0"/>
            </a:endParaRP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IN" sz="6600" dirty="0">
                <a:latin typeface="Segoe UI Variable Display" pitchFamily="2" charset="0"/>
              </a:rPr>
              <a:t>Low-cost manufacturing and operation, suitable for scalable deployment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IN" sz="6600" dirty="0">
                <a:latin typeface="Segoe UI Variable Display" pitchFamily="2" charset="0"/>
              </a:rPr>
              <a:t>……….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IN" sz="6600" dirty="0">
                <a:latin typeface="Segoe UI Variable Display" pitchFamily="2" charset="0"/>
              </a:rPr>
              <a:t>….</a:t>
            </a:r>
          </a:p>
          <a:p>
            <a:r>
              <a:rPr lang="en-IN" sz="6600" b="1" dirty="0">
                <a:latin typeface="Segoe UI Variable Display" pitchFamily="2" charset="0"/>
              </a:rPr>
              <a:t>Unique Value Proposition</a:t>
            </a:r>
            <a:endParaRPr lang="en-IN" sz="6600" dirty="0">
              <a:latin typeface="Segoe UI Variable Display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IN" sz="6600" b="1" dirty="0">
                <a:latin typeface="Segoe UI Variable Display" pitchFamily="2" charset="0"/>
              </a:rPr>
              <a:t>Ultra-low cost</a:t>
            </a:r>
            <a:r>
              <a:rPr lang="en-IN" sz="6600" dirty="0">
                <a:latin typeface="Segoe UI Variable Display" pitchFamily="2" charset="0"/>
              </a:rPr>
              <a:t>: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IN" sz="6600" b="1" dirty="0">
                <a:latin typeface="Segoe UI Variable Display" pitchFamily="2" charset="0"/>
              </a:rPr>
              <a:t>High speed</a:t>
            </a:r>
            <a:r>
              <a:rPr lang="en-IN" sz="6600" dirty="0">
                <a:latin typeface="Segoe UI Variable Display" pitchFamily="2" charset="0"/>
              </a:rPr>
              <a:t>: Delivers results 10x faster/quicker/better/Energy efficient than conventional methods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IN" sz="6600" b="1" dirty="0">
                <a:latin typeface="Segoe UI Variable Display" pitchFamily="2" charset="0"/>
              </a:rPr>
              <a:t>Accuracy &amp; Sensitivity</a:t>
            </a:r>
            <a:r>
              <a:rPr lang="en-IN" sz="6600" dirty="0">
                <a:latin typeface="Segoe UI Variable Display" pitchFamily="2" charset="0"/>
              </a:rPr>
              <a:t>: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IN" sz="6600" b="1" dirty="0">
                <a:latin typeface="Segoe UI Variable Display" pitchFamily="2" charset="0"/>
              </a:rPr>
              <a:t>Sustainability</a:t>
            </a:r>
            <a:r>
              <a:rPr lang="en-IN" sz="6600" dirty="0">
                <a:latin typeface="Segoe UI Variable Display" pitchFamily="2" charset="0"/>
              </a:rPr>
              <a:t>: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IN" sz="6600" b="1" dirty="0">
                <a:latin typeface="Segoe UI Variable Display" pitchFamily="2" charset="0"/>
              </a:rPr>
              <a:t>Flexibility</a:t>
            </a:r>
            <a:r>
              <a:rPr lang="en-IN" sz="6600" dirty="0">
                <a:latin typeface="Segoe UI Variable Display" pitchFamily="2" charset="0"/>
              </a:rPr>
              <a:t>: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IN" sz="6600" b="1" dirty="0">
                <a:latin typeface="Segoe UI Variable Display" pitchFamily="2" charset="0"/>
              </a:rPr>
              <a:t>………..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IN" sz="6600" b="1" dirty="0">
                <a:latin typeface="Segoe UI Variable Display" pitchFamily="2" charset="0"/>
              </a:rPr>
              <a:t>…..</a:t>
            </a:r>
          </a:p>
          <a:p>
            <a:r>
              <a:rPr lang="en-IN" sz="6600" b="1" dirty="0">
                <a:latin typeface="Segoe UI Variable Display" pitchFamily="2" charset="0"/>
              </a:rPr>
              <a:t>Novelty</a:t>
            </a:r>
            <a:endParaRPr lang="en-IN" sz="6600" dirty="0">
              <a:latin typeface="Segoe UI Variable Display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IN" sz="6600" dirty="0">
                <a:latin typeface="Segoe UI Variable Display" pitchFamily="2" charset="0"/>
              </a:rPr>
              <a:t>First-of-its-kind </a:t>
            </a:r>
            <a:r>
              <a:rPr lang="en-IN" sz="6600" b="1" dirty="0">
                <a:latin typeface="Segoe UI Variable Display" pitchFamily="2" charset="0"/>
              </a:rPr>
              <a:t>low-cost ….</a:t>
            </a:r>
            <a:endParaRPr lang="en-IN" sz="6600" dirty="0">
              <a:latin typeface="Segoe UI Variable Display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IN" sz="6600" b="1" dirty="0">
                <a:latin typeface="Segoe UI Variable Display" pitchFamily="2" charset="0"/>
              </a:rPr>
              <a:t>Industry-ready</a:t>
            </a:r>
            <a:r>
              <a:rPr lang="en-IN" sz="6600" dirty="0">
                <a:latin typeface="Segoe UI Variable Display" pitchFamily="2" charset="0"/>
              </a:rPr>
              <a:t> platform validated for portability, robustness, and stability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IN" sz="6600" dirty="0">
                <a:latin typeface="Segoe UI Variable Display" pitchFamily="2" charset="0"/>
              </a:rPr>
              <a:t>Combines </a:t>
            </a:r>
            <a:r>
              <a:rPr lang="en-IN" sz="6600" b="1" dirty="0">
                <a:latin typeface="Segoe UI Variable Display" pitchFamily="2" charset="0"/>
              </a:rPr>
              <a:t>affordability, sustainability, and digital integration</a:t>
            </a:r>
            <a:r>
              <a:rPr lang="en-IN" sz="6600" dirty="0">
                <a:latin typeface="Segoe UI Variable Display" pitchFamily="2" charset="0"/>
              </a:rPr>
              <a:t>, creating a disruptive alternative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IN" sz="6600" dirty="0">
                <a:latin typeface="Segoe UI Variable Display" pitchFamily="2" charset="0"/>
              </a:rPr>
              <a:t>……..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IN" sz="6600" dirty="0">
                <a:latin typeface="Segoe UI Variable Display" pitchFamily="2" charset="0"/>
              </a:rPr>
              <a:t>….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91935E-FA59-43F6-A89B-E4B89423C44F}"/>
              </a:ext>
            </a:extLst>
          </p:cNvPr>
          <p:cNvSpPr/>
          <p:nvPr/>
        </p:nvSpPr>
        <p:spPr>
          <a:xfrm>
            <a:off x="664828" y="920353"/>
            <a:ext cx="20077932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1500" dirty="0">
                <a:latin typeface="Segoe UI Variable Display" pitchFamily="2" charset="0"/>
              </a:rPr>
              <a:t>Research Incubation / Solution</a:t>
            </a:r>
          </a:p>
        </p:txBody>
      </p:sp>
    </p:spTree>
    <p:extLst>
      <p:ext uri="{BB962C8B-B14F-4D97-AF65-F5344CB8AC3E}">
        <p14:creationId xmlns:p14="http://schemas.microsoft.com/office/powerpoint/2010/main" val="2117698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0BA47-0863-7EB9-B549-EC34A6E8E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4288858-907D-B157-B5FA-B7DD8DB60634}"/>
              </a:ext>
            </a:extLst>
          </p:cNvPr>
          <p:cNvSpPr txBox="1"/>
          <p:nvPr/>
        </p:nvSpPr>
        <p:spPr>
          <a:xfrm>
            <a:off x="1704414" y="4718688"/>
            <a:ext cx="46644486" cy="1634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>
                <a:latin typeface="Segoe UI Variable Display" pitchFamily="2" charset="0"/>
              </a:rPr>
              <a:t>Research to Productization Path</a:t>
            </a:r>
            <a:endParaRPr lang="en-US" sz="6600" dirty="0">
              <a:latin typeface="Segoe UI Variable Display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b="1" dirty="0">
                <a:latin typeface="Segoe UI Variable Display" pitchFamily="2" charset="0"/>
              </a:rPr>
              <a:t>Lab-validated prototype → </a:t>
            </a:r>
            <a:r>
              <a:rPr lang="en-US" sz="6600" dirty="0">
                <a:latin typeface="Segoe UI Variable Display" pitchFamily="2" charset="0"/>
              </a:rPr>
              <a:t>Proof-of-Concept product or already launched offering </a:t>
            </a:r>
            <a:r>
              <a:rPr lang="en-US" sz="6600" dirty="0" err="1">
                <a:latin typeface="Segoe UI Variable Display" pitchFamily="2" charset="0"/>
              </a:rPr>
              <a:t>etc</a:t>
            </a:r>
            <a:r>
              <a:rPr lang="en-US" sz="6600" dirty="0">
                <a:latin typeface="Segoe UI Variable Display" pitchFamily="2" charset="0"/>
              </a:rPr>
              <a:t>…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latin typeface="Segoe UI Variable Display" pitchFamily="2" charset="0"/>
              </a:rPr>
              <a:t>Validated for sensitivity, portability, and multifunctional sensing </a:t>
            </a:r>
            <a:r>
              <a:rPr lang="en-US" sz="6600" dirty="0" err="1">
                <a:latin typeface="Segoe UI Variable Display" pitchFamily="2" charset="0"/>
              </a:rPr>
              <a:t>etc</a:t>
            </a:r>
            <a:endParaRPr lang="en-US" sz="6600" dirty="0">
              <a:latin typeface="Segoe UI Variable Display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latin typeface="Segoe UI Variable Display" pitchFamily="2" charset="0"/>
              </a:rPr>
              <a:t>Ongoing incubation for UI development, device integration, and cloud connectivity </a:t>
            </a:r>
            <a:r>
              <a:rPr lang="en-US" sz="6600" dirty="0" err="1">
                <a:latin typeface="Segoe UI Variable Display" pitchFamily="2" charset="0"/>
              </a:rPr>
              <a:t>etc</a:t>
            </a:r>
            <a:endParaRPr lang="en-US" sz="6600" dirty="0">
              <a:latin typeface="Segoe UI Variable Display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6600" dirty="0">
              <a:latin typeface="Segoe UI Variable Display" pitchFamily="2" charset="0"/>
            </a:endParaRPr>
          </a:p>
          <a:p>
            <a:r>
              <a:rPr lang="en-US" sz="6600" b="1" dirty="0">
                <a:latin typeface="Segoe UI Variable Display" pitchFamily="2" charset="0"/>
              </a:rPr>
              <a:t>Scalability</a:t>
            </a:r>
            <a:endParaRPr lang="en-US" sz="6600" dirty="0">
              <a:latin typeface="Segoe UI Variable Display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 err="1">
                <a:latin typeface="Segoe UI Variable Display" pitchFamily="2" charset="0"/>
              </a:rPr>
              <a:t>xxxx</a:t>
            </a:r>
            <a:r>
              <a:rPr lang="en-US" sz="6600" dirty="0">
                <a:latin typeface="Segoe UI Variable Display" pitchFamily="2" charset="0"/>
              </a:rPr>
              <a:t> ensures mass manufacturability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latin typeface="Segoe UI Variable Display" pitchFamily="2" charset="0"/>
              </a:rPr>
              <a:t>How is large-scale roll-out with minimal infrastructure possible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latin typeface="Segoe UI Variable Display" pitchFamily="2" charset="0"/>
              </a:rPr>
              <a:t>Modular platform – easily adaptable to xxx, healthcare, food safety, and environmental monitoring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latin typeface="Segoe UI Variable Display" pitchFamily="2" charset="0"/>
              </a:rPr>
              <a:t>Cloud-based data integration supports remote diagnostics at population scale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6600" dirty="0">
              <a:latin typeface="Segoe UI Variable Display" pitchFamily="2" charset="0"/>
            </a:endParaRPr>
          </a:p>
          <a:p>
            <a:r>
              <a:rPr lang="en-US" sz="6600" b="1" dirty="0">
                <a:latin typeface="Segoe UI Variable Display" pitchFamily="2" charset="0"/>
              </a:rPr>
              <a:t>Commercial Readiness</a:t>
            </a:r>
            <a:endParaRPr lang="en-US" sz="6600" dirty="0">
              <a:latin typeface="Segoe UI Variable Display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latin typeface="Segoe UI Variable Display" pitchFamily="2" charset="0"/>
              </a:rPr>
              <a:t>Robustness and portability tested for field applications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latin typeface="Segoe UI Variable Display" pitchFamily="2" charset="0"/>
              </a:rPr>
              <a:t>10x faster investigations increase throughput for industries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latin typeface="Segoe UI Variable Display" pitchFamily="2" charset="0"/>
              </a:rPr>
              <a:t>Sustainable, eco-friendly solution aligns with global green-technology goals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latin typeface="Segoe UI Variable Display" pitchFamily="2" charset="0"/>
              </a:rPr>
              <a:t>Supported proven research or prototype…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D4184B-21C1-4A02-BEFE-7E17C7D9CFCA}"/>
              </a:ext>
            </a:extLst>
          </p:cNvPr>
          <p:cNvSpPr/>
          <p:nvPr/>
        </p:nvSpPr>
        <p:spPr>
          <a:xfrm>
            <a:off x="1704414" y="2107026"/>
            <a:ext cx="20004194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11500" dirty="0">
                <a:solidFill>
                  <a:prstClr val="black"/>
                </a:solidFill>
                <a:latin typeface="Segoe UI Variable Display" pitchFamily="2" charset="0"/>
              </a:rPr>
              <a:t>Productization Stage &amp; Results</a:t>
            </a:r>
          </a:p>
        </p:txBody>
      </p:sp>
    </p:spTree>
    <p:extLst>
      <p:ext uri="{BB962C8B-B14F-4D97-AF65-F5344CB8AC3E}">
        <p14:creationId xmlns:p14="http://schemas.microsoft.com/office/powerpoint/2010/main" val="2505895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A0109-A532-6956-C223-56735C269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7C7E3E0-5FB6-4DDA-BBF9-7D6C2820BA86}"/>
              </a:ext>
            </a:extLst>
          </p:cNvPr>
          <p:cNvSpPr/>
          <p:nvPr/>
        </p:nvSpPr>
        <p:spPr>
          <a:xfrm>
            <a:off x="1696244" y="816045"/>
            <a:ext cx="35288828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11500" dirty="0">
                <a:solidFill>
                  <a:prstClr val="black"/>
                </a:solidFill>
                <a:latin typeface="Segoe UI Variable Display" pitchFamily="2" charset="0"/>
              </a:rPr>
              <a:t>Market Research, Business Model and Asset Scalability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7560A7-A665-491B-B29F-ED5C757BB6F7}"/>
              </a:ext>
            </a:extLst>
          </p:cNvPr>
          <p:cNvSpPr/>
          <p:nvPr/>
        </p:nvSpPr>
        <p:spPr>
          <a:xfrm>
            <a:off x="19083794" y="3230880"/>
            <a:ext cx="31316153" cy="8956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atin typeface="Segoe UI Variable Display" pitchFamily="2" charset="0"/>
              </a:rPr>
              <a:t>Competitor Analysis</a:t>
            </a:r>
            <a:endParaRPr lang="en-US" sz="4800" dirty="0">
              <a:latin typeface="Segoe UI Variable Display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800" b="1" dirty="0">
                <a:latin typeface="Segoe UI Variable Display" pitchFamily="2" charset="0"/>
              </a:rPr>
              <a:t>Traditional Approaches</a:t>
            </a:r>
            <a:endParaRPr lang="en-US" sz="4800" dirty="0">
              <a:latin typeface="Segoe UI Variable Display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800" b="1" dirty="0">
                <a:latin typeface="Segoe UI Variable Display" pitchFamily="2" charset="0"/>
              </a:rPr>
              <a:t>Emerging PoC Devices/Solutions/Products</a:t>
            </a:r>
            <a:r>
              <a:rPr lang="en-US" sz="4800" dirty="0">
                <a:latin typeface="Segoe UI Variable Display" pitchFamily="2" charset="0"/>
              </a:rPr>
              <a:t>: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800" b="1" dirty="0">
                <a:latin typeface="Segoe UI Variable Display" pitchFamily="2" charset="0"/>
              </a:rPr>
              <a:t>Our Advantage</a:t>
            </a:r>
            <a:r>
              <a:rPr lang="en-US" sz="4800" dirty="0">
                <a:latin typeface="Segoe UI Variable Display" pitchFamily="2" charset="0"/>
              </a:rPr>
              <a:t>: ~95% cost reduction, eco-sustainability, cloud integration, multifunctional sensing</a:t>
            </a:r>
          </a:p>
          <a:p>
            <a:endParaRPr lang="en-US" sz="4800" b="1" dirty="0">
              <a:latin typeface="Segoe UI Variable Display" pitchFamily="2" charset="0"/>
            </a:endParaRPr>
          </a:p>
          <a:p>
            <a:r>
              <a:rPr lang="en-US" sz="4800" b="1" dirty="0">
                <a:latin typeface="Segoe UI Variable Display" pitchFamily="2" charset="0"/>
              </a:rPr>
              <a:t>Business Model</a:t>
            </a:r>
            <a:endParaRPr lang="en-US" sz="4800" dirty="0">
              <a:latin typeface="Segoe UI Variable Display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800" b="1" dirty="0">
                <a:latin typeface="Segoe UI Variable Display" pitchFamily="2" charset="0"/>
              </a:rPr>
              <a:t>B2B Sales</a:t>
            </a:r>
            <a:r>
              <a:rPr lang="en-US" sz="4800" dirty="0">
                <a:latin typeface="Segoe UI Variable Display" pitchFamily="2" charset="0"/>
              </a:rPr>
              <a:t>: Direct sales to consolidators 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800" b="1" dirty="0">
                <a:latin typeface="Segoe UI Variable Display" pitchFamily="2" charset="0"/>
              </a:rPr>
              <a:t>B2G Partnerships</a:t>
            </a:r>
            <a:r>
              <a:rPr lang="en-US" sz="4800" dirty="0">
                <a:latin typeface="Segoe UI Variable Display" pitchFamily="2" charset="0"/>
              </a:rPr>
              <a:t>: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800" b="1" dirty="0">
                <a:latin typeface="Segoe UI Variable Display" pitchFamily="2" charset="0"/>
              </a:rPr>
              <a:t>Recurring Revenue Streams</a:t>
            </a:r>
            <a:r>
              <a:rPr lang="en-US" sz="4800" dirty="0">
                <a:latin typeface="Segoe UI Variable Display" pitchFamily="2" charset="0"/>
              </a:rPr>
              <a:t>: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en-US" sz="4800" dirty="0">
                <a:latin typeface="Segoe UI Variable Display" pitchFamily="2" charset="0"/>
              </a:rPr>
              <a:t>Sale of 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en-US" sz="4800" dirty="0">
                <a:latin typeface="Segoe UI Variable Display" pitchFamily="2" charset="0"/>
              </a:rPr>
              <a:t>Subscription model for cloud data services and analytics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en-US" sz="4800" dirty="0">
                <a:latin typeface="Segoe UI Variable Display" pitchFamily="2" charset="0"/>
              </a:rPr>
              <a:t>Industry-specific customized solutions &amp; licensing of IP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307302-DE12-44B7-BCBF-3BF7C9D7BC19}"/>
              </a:ext>
            </a:extLst>
          </p:cNvPr>
          <p:cNvSpPr/>
          <p:nvPr/>
        </p:nvSpPr>
        <p:spPr>
          <a:xfrm>
            <a:off x="19083793" y="12472977"/>
            <a:ext cx="31316154" cy="10433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atin typeface="Segoe UI Variable Display" pitchFamily="2" charset="0"/>
              </a:rPr>
              <a:t>Market Research &amp; Segment Analysis</a:t>
            </a:r>
            <a:endParaRPr lang="en-US" sz="4800" dirty="0">
              <a:latin typeface="Segoe UI Variable Display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800" b="1" dirty="0">
                <a:latin typeface="Segoe UI Variable Display" pitchFamily="2" charset="0"/>
              </a:rPr>
              <a:t>Segment Analysis </a:t>
            </a:r>
            <a:r>
              <a:rPr lang="en-US" sz="4800" dirty="0">
                <a:latin typeface="Segoe UI Variable Display" pitchFamily="2" charset="0"/>
              </a:rPr>
              <a:t>: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800" b="1" dirty="0">
                <a:latin typeface="Segoe UI Variable Display" pitchFamily="2" charset="0"/>
              </a:rPr>
              <a:t>Segment Research</a:t>
            </a:r>
            <a:endParaRPr lang="en-US" sz="4800" dirty="0">
              <a:latin typeface="Segoe UI Variable Display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800" b="1" dirty="0">
                <a:latin typeface="Segoe UI Variable Display" pitchFamily="2" charset="0"/>
              </a:rPr>
              <a:t>Environmental Monitoring</a:t>
            </a:r>
            <a:r>
              <a:rPr lang="en-US" sz="4800" dirty="0">
                <a:latin typeface="Segoe UI Variable Display" pitchFamily="2" charset="0"/>
              </a:rPr>
              <a:t>: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800" dirty="0">
                <a:latin typeface="Segoe UI Variable Display" pitchFamily="2" charset="0"/>
              </a:rPr>
              <a:t>Growing demand for </a:t>
            </a:r>
            <a:r>
              <a:rPr lang="en-US" sz="4800" b="1" dirty="0">
                <a:latin typeface="Segoe UI Variable Display" pitchFamily="2" charset="0"/>
              </a:rPr>
              <a:t>affordable, sustainable solutions</a:t>
            </a:r>
            <a:r>
              <a:rPr lang="en-US" sz="4800" dirty="0">
                <a:latin typeface="Segoe UI Variable Display" pitchFamily="2" charset="0"/>
              </a:rPr>
              <a:t> in emerging economies</a:t>
            </a:r>
          </a:p>
          <a:p>
            <a:endParaRPr lang="en-US" sz="4800" b="1" dirty="0">
              <a:latin typeface="Segoe UI Variable Display" pitchFamily="2" charset="0"/>
            </a:endParaRPr>
          </a:p>
          <a:p>
            <a:r>
              <a:rPr lang="en-US" sz="4800" b="1" dirty="0">
                <a:latin typeface="Segoe UI Variable Display" pitchFamily="2" charset="0"/>
              </a:rPr>
              <a:t>Portfolio Analysis</a:t>
            </a:r>
            <a:endParaRPr lang="en-US" sz="4800" dirty="0">
              <a:latin typeface="Segoe UI Variable Display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800" dirty="0">
                <a:latin typeface="Segoe UI Variable Display" pitchFamily="2" charset="0"/>
              </a:rPr>
              <a:t>Core Product: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800" dirty="0">
                <a:latin typeface="Segoe UI Variable Display" pitchFamily="2" charset="0"/>
              </a:rPr>
              <a:t>Expansion Potential: Integration with </a:t>
            </a:r>
            <a:r>
              <a:rPr lang="en-US" sz="4800" b="1" dirty="0">
                <a:latin typeface="Segoe UI Variable Display" pitchFamily="2" charset="0"/>
              </a:rPr>
              <a:t>IoT/cloud dashboards</a:t>
            </a:r>
            <a:r>
              <a:rPr lang="en-US" sz="4800" dirty="0">
                <a:latin typeface="Segoe UI Variable Display" pitchFamily="2" charset="0"/>
              </a:rPr>
              <a:t>,, industry-specific customized solutions</a:t>
            </a:r>
          </a:p>
          <a:p>
            <a:endParaRPr lang="en-US" sz="4800" b="1" dirty="0">
              <a:latin typeface="Segoe UI Variable Display" pitchFamily="2" charset="0"/>
            </a:endParaRPr>
          </a:p>
          <a:p>
            <a:r>
              <a:rPr lang="en-US" sz="4800" b="1" dirty="0">
                <a:latin typeface="Segoe UI Variable Display" pitchFamily="2" charset="0"/>
              </a:rPr>
              <a:t>Technology Adoption &amp; Placement</a:t>
            </a:r>
            <a:endParaRPr lang="en-US" sz="4800" dirty="0">
              <a:latin typeface="Segoe UI Variable Display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800" dirty="0">
                <a:latin typeface="Segoe UI Variable Display" pitchFamily="2" charset="0"/>
              </a:rPr>
              <a:t>Positioned as a </a:t>
            </a:r>
            <a:r>
              <a:rPr lang="en-US" sz="4800" b="1" dirty="0">
                <a:latin typeface="Segoe UI Variable Display" pitchFamily="2" charset="0"/>
              </a:rPr>
              <a:t>low-cost, eco-friendly alternative</a:t>
            </a:r>
            <a:r>
              <a:rPr lang="en-US" sz="4800" dirty="0">
                <a:latin typeface="Segoe UI Variable Display" pitchFamily="2" charset="0"/>
              </a:rPr>
              <a:t> to conventional solutions/products/devices/solutions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800" dirty="0">
                <a:latin typeface="Segoe UI Variable Display" pitchFamily="2" charset="0"/>
              </a:rPr>
              <a:t>Ideal for </a:t>
            </a:r>
            <a:r>
              <a:rPr lang="en-US" sz="4800" b="1" dirty="0">
                <a:latin typeface="Segoe UI Variable Display" pitchFamily="2" charset="0"/>
              </a:rPr>
              <a:t>resource-limited settings</a:t>
            </a:r>
            <a:r>
              <a:rPr lang="en-US" sz="4800" dirty="0">
                <a:latin typeface="Segoe UI Variable Display" pitchFamily="2" charset="0"/>
              </a:rPr>
              <a:t> where affordability, speed, and portability are critical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800" dirty="0">
                <a:latin typeface="Segoe UI Variable Display" pitchFamily="2" charset="0"/>
              </a:rPr>
              <a:t>High potential for </a:t>
            </a:r>
            <a:r>
              <a:rPr lang="en-US" sz="4800" b="1" dirty="0">
                <a:latin typeface="Segoe UI Variable Display" pitchFamily="2" charset="0"/>
              </a:rPr>
              <a:t>early adoption</a:t>
            </a:r>
            <a:r>
              <a:rPr lang="en-US" sz="4800" dirty="0">
                <a:latin typeface="Segoe UI Variable Display" pitchFamily="2" charset="0"/>
              </a:rPr>
              <a:t> in </a:t>
            </a:r>
            <a:r>
              <a:rPr lang="en-US" sz="4800" dirty="0" err="1">
                <a:latin typeface="Segoe UI Variable Display" pitchFamily="2" charset="0"/>
              </a:rPr>
              <a:t>xxxx</a:t>
            </a:r>
            <a:r>
              <a:rPr lang="en-US" sz="4800" dirty="0">
                <a:latin typeface="Segoe UI Variable Display" pitchFamily="2" charset="0"/>
              </a:rPr>
              <a:t> sectors</a:t>
            </a:r>
          </a:p>
        </p:txBody>
      </p:sp>
      <p:pic>
        <p:nvPicPr>
          <p:cNvPr id="1028" name="Picture 4" descr="Top 5 Market Research Companies in India">
            <a:extLst>
              <a:ext uri="{FF2B5EF4-FFF2-40B4-BE49-F238E27FC236}">
                <a16:creationId xmlns:a16="http://schemas.microsoft.com/office/drawing/2014/main" id="{2FF80E9C-CD41-F547-C7A2-6036ECC71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721" y="4904511"/>
            <a:ext cx="16158268" cy="16874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0963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050C4-3847-0442-8EF6-3AC8CA0E291C}"/>
              </a:ext>
            </a:extLst>
          </p:cNvPr>
          <p:cNvSpPr txBox="1">
            <a:spLocks/>
          </p:cNvSpPr>
          <p:nvPr/>
        </p:nvSpPr>
        <p:spPr>
          <a:xfrm>
            <a:off x="4214191" y="11477668"/>
            <a:ext cx="41461868" cy="4504454"/>
          </a:xfrm>
          <a:prstGeom prst="rect">
            <a:avLst/>
          </a:prstGeom>
        </p:spPr>
        <p:txBody>
          <a:bodyPr/>
          <a:lstStyle>
            <a:lvl1pPr algn="l" defTabSz="9143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9842">
                <a:solidFill>
                  <a:srgbClr val="E43B06"/>
                </a:solidFill>
                <a:latin typeface="Aptos Black" panose="020B0004020202020204" pitchFamily="34" charset="0"/>
              </a:rPr>
              <a:t>Thank</a:t>
            </a:r>
            <a:r>
              <a:rPr lang="en-US" sz="19842">
                <a:solidFill>
                  <a:srgbClr val="9E003D"/>
                </a:solidFill>
                <a:latin typeface="Aptos Black" panose="020B0004020202020204" pitchFamily="34" charset="0"/>
              </a:rPr>
              <a:t> </a:t>
            </a:r>
            <a:r>
              <a:rPr lang="en-US" sz="19842">
                <a:solidFill>
                  <a:srgbClr val="E43B06"/>
                </a:solidFill>
                <a:latin typeface="Aptos Black" panose="020B0004020202020204" pitchFamily="34" charset="0"/>
              </a:rPr>
              <a:t>You</a:t>
            </a:r>
            <a:endParaRPr lang="en-IN" sz="19842">
              <a:solidFill>
                <a:srgbClr val="E43B06"/>
              </a:solidFill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524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D1632-56DA-C838-73AC-C73F401CC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88EAF-4DAA-53AE-3E67-7E05B0DA30D3}"/>
              </a:ext>
            </a:extLst>
          </p:cNvPr>
          <p:cNvSpPr txBox="1">
            <a:spLocks/>
          </p:cNvSpPr>
          <p:nvPr/>
        </p:nvSpPr>
        <p:spPr>
          <a:xfrm>
            <a:off x="977696" y="9433360"/>
            <a:ext cx="46571104" cy="4504454"/>
          </a:xfrm>
          <a:prstGeom prst="rect">
            <a:avLst/>
          </a:prstGeom>
        </p:spPr>
        <p:txBody>
          <a:bodyPr/>
          <a:lstStyle>
            <a:lvl1pPr algn="l" defTabSz="9143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9842" dirty="0">
                <a:solidFill>
                  <a:srgbClr val="E43B06"/>
                </a:solidFill>
                <a:latin typeface="Aptos Black" panose="020B0004020202020204" pitchFamily="34" charset="0"/>
              </a:rPr>
              <a:t>Backup</a:t>
            </a:r>
          </a:p>
          <a:p>
            <a:pPr algn="ctr"/>
            <a:r>
              <a:rPr lang="en-US" sz="9600" dirty="0">
                <a:solidFill>
                  <a:srgbClr val="E43B06"/>
                </a:solidFill>
                <a:latin typeface="Aptos Black" panose="020B0004020202020204" pitchFamily="34" charset="0"/>
              </a:rPr>
              <a:t>Please include any Video, Reference Links, Testimonials, Results </a:t>
            </a:r>
            <a:r>
              <a:rPr lang="en-US" sz="9600" dirty="0" err="1">
                <a:solidFill>
                  <a:srgbClr val="E43B06"/>
                </a:solidFill>
                <a:latin typeface="Aptos Black" panose="020B0004020202020204" pitchFamily="34" charset="0"/>
              </a:rPr>
              <a:t>etc</a:t>
            </a:r>
            <a:endParaRPr lang="en-IN" sz="9600" dirty="0">
              <a:solidFill>
                <a:srgbClr val="E43B06"/>
              </a:solidFill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557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84322ac-d5ba-4264-bc96-21306617e84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6D5E94CAC786489A96E2C71955532C" ma:contentTypeVersion="18" ma:contentTypeDescription="Create a new document." ma:contentTypeScope="" ma:versionID="0e6cd0d30a9ab9c95436a1db0ad84f3f">
  <xsd:schema xmlns:xsd="http://www.w3.org/2001/XMLSchema" xmlns:xs="http://www.w3.org/2001/XMLSchema" xmlns:p="http://schemas.microsoft.com/office/2006/metadata/properties" xmlns:ns3="984322ac-d5ba-4264-bc96-21306617e849" xmlns:ns4="0951d0d9-88da-4b5e-99d6-1f449f167446" targetNamespace="http://schemas.microsoft.com/office/2006/metadata/properties" ma:root="true" ma:fieldsID="db08af9e9baaf306b99ad9f10cee55d3" ns3:_="" ns4:_="">
    <xsd:import namespace="984322ac-d5ba-4264-bc96-21306617e849"/>
    <xsd:import namespace="0951d0d9-88da-4b5e-99d6-1f449f16744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_activity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4322ac-d5ba-4264-bc96-21306617e8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51d0d9-88da-4b5e-99d6-1f449f16744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61A204-9839-4E32-BAC2-FDBFC3D4DF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1241E51-AC1B-4229-BFBC-4DAEA8E78788}">
  <ds:schemaRefs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dcmitype/"/>
    <ds:schemaRef ds:uri="984322ac-d5ba-4264-bc96-21306617e849"/>
    <ds:schemaRef ds:uri="http://purl.org/dc/elements/1.1/"/>
    <ds:schemaRef ds:uri="http://schemas.microsoft.com/office/infopath/2007/PartnerControls"/>
    <ds:schemaRef ds:uri="0951d0d9-88da-4b5e-99d6-1f449f167446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D4003C9-99FF-41F9-B6C7-12BDEF3B2723}">
  <ds:schemaRefs>
    <ds:schemaRef ds:uri="0951d0d9-88da-4b5e-99d6-1f449f167446"/>
    <ds:schemaRef ds:uri="984322ac-d5ba-4264-bc96-21306617e84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2287</TotalTime>
  <Words>530</Words>
  <Application>Microsoft Office PowerPoint</Application>
  <PresentationFormat>Custom</PresentationFormat>
  <Paragraphs>112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Black</vt:lpstr>
      <vt:lpstr>Arial</vt:lpstr>
      <vt:lpstr>Calibri</vt:lpstr>
      <vt:lpstr>Calibri Light</vt:lpstr>
      <vt:lpstr>Segoe UI Variable Display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Madhav Bissa (nasscom)</dc:creator>
  <cp:lastModifiedBy>Amol Mahamuni</cp:lastModifiedBy>
  <cp:revision>20</cp:revision>
  <dcterms:created xsi:type="dcterms:W3CDTF">2023-03-23T10:16:09Z</dcterms:created>
  <dcterms:modified xsi:type="dcterms:W3CDTF">2026-04-15T03:28:12Z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0x010100CB6D5E94CAC786489A96E2C71955532C</vt:lpwstr>
  </property>
</Properties>
</file>