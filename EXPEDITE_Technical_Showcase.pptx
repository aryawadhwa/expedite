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OUTBOUND  ·  PROSPECT INTELLIGENCE  ·  RESEARCH ASSET SHOWCASE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EXPEDITE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731520" y="2852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Outbound &amp; Prospect Intelligence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564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Evidence-First LangGraph State Machine with Deterministic Deliverability Verification &amp; Local-First MLX Execution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7259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434840"/>
            <a:ext cx="2830068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28300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9332" y="4434840"/>
            <a:ext cx="4407408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9332" y="4434840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Proof Ledger (HELO/EHLO)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44484" y="4434840"/>
            <a:ext cx="2724912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4484" y="4434840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6-Channel OAuth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407140" y="4434840"/>
            <a:ext cx="3461004" cy="493776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07140" y="4434840"/>
            <a:ext cx="34610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Apple Metal / MLX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Asset Showcase  ·  Open-Source Repository: github.com/aryawadhwa/EXPEDITE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 Problem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research, static contact databases, and naive LLM wrappers break down at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493776" cy="49377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72" dirty="0"/>
          </a:p>
        </p:txBody>
      </p:sp>
      <p:sp>
        <p:nvSpPr>
          <p:cNvPr id="8" name="Text 6"/>
          <p:cNvSpPr/>
          <p:nvPr/>
        </p:nvSpPr>
        <p:spPr>
          <a:xfrm>
            <a:off x="1389888" y="1664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Workflows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GTM &amp; recruiting teams manually stitch data across disconnected platforms.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Averaging 45+ min per verified lead due to constant context switching.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306824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645920"/>
            <a:ext cx="493776" cy="49377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72" dirty="0"/>
          </a:p>
        </p:txBody>
      </p:sp>
      <p:sp>
        <p:nvSpPr>
          <p:cNvPr id="13" name="Text 11"/>
          <p:cNvSpPr/>
          <p:nvPr/>
        </p:nvSpPr>
        <p:spPr>
          <a:xfrm>
            <a:off x="5148072" y="1664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DB Degradation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2267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vendors provide cached, stale contact lists.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Bounce rates exceed 15%, causing severe domain blacklisting risk.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065008" y="14173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645920"/>
            <a:ext cx="493776" cy="49377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72" dirty="0"/>
          </a:p>
        </p:txBody>
      </p:sp>
      <p:sp>
        <p:nvSpPr>
          <p:cNvPr id="18" name="Text 16"/>
          <p:cNvSpPr/>
          <p:nvPr/>
        </p:nvSpPr>
        <p:spPr>
          <a:xfrm>
            <a:off x="8906256" y="16642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Hallucinations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3608" y="2267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LLM wrappers lack deterministic deliverability logic.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generic templates that trigger enterprise spam filters.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48640" y="3858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Industry Applications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3484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792" dirty="0"/>
          </a:p>
        </p:txBody>
      </p:sp>
      <p:sp>
        <p:nvSpPr>
          <p:cNvPr id="24" name="Text 22"/>
          <p:cNvSpPr/>
          <p:nvPr/>
        </p:nvSpPr>
        <p:spPr>
          <a:xfrm>
            <a:off x="1207008" y="4389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 Operations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07008" y="466344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Multi-tier lead discovery, tech-stack profiling, multi-channel execution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06824" y="425196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443484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471416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</a:t>
            </a:r>
            <a:endParaRPr lang="en-US" sz="792" dirty="0"/>
          </a:p>
        </p:txBody>
      </p:sp>
      <p:sp>
        <p:nvSpPr>
          <p:cNvPr id="29" name="Text 27"/>
          <p:cNvSpPr/>
          <p:nvPr/>
        </p:nvSpPr>
        <p:spPr>
          <a:xfrm>
            <a:off x="4965192" y="4389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Recruiting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65192" y="466344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Deep-web engineering sourcing across GitHub, Reddit, and LinkedIn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65008" y="425196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43484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92" dirty="0"/>
          </a:p>
        </p:txBody>
      </p:sp>
      <p:sp>
        <p:nvSpPr>
          <p:cNvPr id="34" name="Text 32"/>
          <p:cNvSpPr/>
          <p:nvPr/>
        </p:nvSpPr>
        <p:spPr>
          <a:xfrm>
            <a:off x="8723376" y="4389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723376" y="466344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scoping of Series A/B companies by funding &amp; tech stack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46811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6327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min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2240280" y="5687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prospect discovery &amp; verification per batch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0" y="56327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5897880" y="5687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throughput gain vs. manual tabs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56327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&gt;60%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9555480" y="5687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reduction in third-party data vendor spend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Section 1: Introduction &amp; Problem Statement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— LangGraph State Machine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app/core/agent.py — a rigid, auditable AgentState contract with human-in-the-loop interception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21408" y="1417320"/>
            <a:ext cx="141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631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88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35908" y="1417320"/>
            <a:ext cx="141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776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Channel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50408" y="1417320"/>
            <a:ext cx="141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21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78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64908" y="1417320"/>
            <a:ext cx="141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/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/ Publish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79408" y="1417320"/>
            <a:ext cx="1417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21140" y="1417320"/>
            <a:ext cx="1572768" cy="822960"/>
          </a:xfrm>
          <a:prstGeom prst="roundRect">
            <a:avLst>
              <a:gd name="adj" fmla="val 7778"/>
            </a:avLst>
          </a:prstGeom>
          <a:solidFill>
            <a:srgbClr val="0369A1"/>
          </a:solidFill>
          <a:ln w="1651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6860" y="14173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(Human-in-Loop)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35915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pauses automatically at Review Queue for draft modification before external transmission (DraftStatus.PENDING)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9443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154680"/>
            <a:ext cx="475488" cy="47548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1298448" y="3154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Sub-Graph Orchestration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8448" y="34290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execution separating objective parsing (`planner_node`) from API discovery (`research_node`).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06824" y="29443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9704" y="3154680"/>
            <a:ext cx="475488" cy="47548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2" name="Text 30"/>
          <p:cNvSpPr/>
          <p:nvPr/>
        </p:nvSpPr>
        <p:spPr>
          <a:xfrm>
            <a:off x="4489704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36" dirty="0"/>
          </a:p>
        </p:txBody>
      </p:sp>
      <p:sp>
        <p:nvSpPr>
          <p:cNvPr id="33" name="Text 31"/>
          <p:cNvSpPr/>
          <p:nvPr/>
        </p:nvSpPr>
        <p:spPr>
          <a:xfrm>
            <a:off x="5056632" y="3154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Verification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56632" y="34290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smtp_verifier.py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89704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DNS/MX lookup + direct SMTP handshake (`HELO/EHLO`, `RCPT TO`) confirms deliverability without sending mail.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65008" y="29443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154680"/>
            <a:ext cx="475488" cy="47548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36" dirty="0"/>
          </a:p>
        </p:txBody>
      </p:sp>
      <p:sp>
        <p:nvSpPr>
          <p:cNvPr id="39" name="Text 37"/>
          <p:cNvSpPr/>
          <p:nvPr/>
        </p:nvSpPr>
        <p:spPr>
          <a:xfrm>
            <a:off x="8814816" y="3154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Personalization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814816" y="342900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rag.py + neo4j.py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47888" y="37307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Ingests user knowledge assets and Neo4j entity relationships to build 6,000-char personalization windows.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02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Verification Pipeline  (Proof Ledger)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2960" y="5440680"/>
            <a:ext cx="1947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44068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MX</a:t>
            </a:r>
            <a:endParaRPr lang="en-US" sz="10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2743200" y="5440680"/>
            <a:ext cx="164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907792" y="5440680"/>
            <a:ext cx="1947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792" y="544068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Handshake</a:t>
            </a:r>
            <a:endParaRPr lang="en-US" sz="10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(HELO / EHLO)</a:t>
            </a:r>
            <a:endParaRPr lang="en-US" sz="1030" dirty="0"/>
          </a:p>
        </p:txBody>
      </p:sp>
      <p:sp>
        <p:nvSpPr>
          <p:cNvPr id="49" name="Text 47"/>
          <p:cNvSpPr/>
          <p:nvPr/>
        </p:nvSpPr>
        <p:spPr>
          <a:xfrm>
            <a:off x="4828032" y="5440680"/>
            <a:ext cx="164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992624" y="5440680"/>
            <a:ext cx="1947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544068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</a:t>
            </a:r>
            <a:endParaRPr lang="en-US" sz="10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Calc.</a:t>
            </a:r>
            <a:endParaRPr lang="en-US" sz="1030" dirty="0"/>
          </a:p>
        </p:txBody>
      </p:sp>
      <p:sp>
        <p:nvSpPr>
          <p:cNvPr id="52" name="Text 50"/>
          <p:cNvSpPr/>
          <p:nvPr/>
        </p:nvSpPr>
        <p:spPr>
          <a:xfrm>
            <a:off x="6912864" y="5440680"/>
            <a:ext cx="164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077456" y="5440680"/>
            <a:ext cx="1947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544068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Flag:</a:t>
            </a:r>
            <a:endParaRPr lang="en-US" sz="10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unknown / high-risk</a:t>
            </a:r>
            <a:endParaRPr lang="en-US" sz="1030" dirty="0"/>
          </a:p>
        </p:txBody>
      </p:sp>
      <p:sp>
        <p:nvSpPr>
          <p:cNvPr id="55" name="Text 53"/>
          <p:cNvSpPr/>
          <p:nvPr/>
        </p:nvSpPr>
        <p:spPr>
          <a:xfrm>
            <a:off x="8997696" y="5440680"/>
            <a:ext cx="164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9162288" y="5440680"/>
            <a:ext cx="1947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62288" y="5440680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</a:t>
            </a:r>
            <a:endParaRPr lang="en-US" sz="10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Section 2: Research Incubation &amp; Solution Architecture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Execution &amp; Dual-Mode Deployment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6-channel outreach engine, RAG personalization, autonomous voice fallback, and local/cloud execution stacks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6-Channel Outreach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Composio + Unipile OAuth connectors execute native messaging across platforms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671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(SMTP/Gmail)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20574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21671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79476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Messaging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529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 DMs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28529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794760" y="27432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Communities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5387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SLK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097280" y="3429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Workspaces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3429000"/>
            <a:ext cx="26060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3538728"/>
            <a:ext cx="365760" cy="36576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794760" y="3429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/ PRs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AI Voice Fallback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escalation to autonomous voice agents via Vapi and Bland.ai endpoints.</a:t>
            </a:r>
            <a:endParaRPr lang="en-US" sz="11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real-time lead qualification and interactive conversational booking.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80760" y="1371600"/>
            <a:ext cx="0" cy="489204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Database &amp; Execution Stack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080" y="17830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196596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7059168" y="19385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Zero-Cloud Mode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59168" y="21762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LOCAL_MODE = True  ·  Zero Cloud Egress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2450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 instantly with SQLite + SQLModel (./data/expedite.db).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local inference via Apple Metal (MLX) using Meta-Llama-3-8B-Instruct-4bit.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291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347472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7059168" y="34564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Cloud-Scale Production Mode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59168" y="3694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Beanie ODM · Motor · Clerk Auth · Multi-Tenant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37960" y="396849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to async MongoDB and multi-tenant Clerk enterprise auth.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Routes inference across cloud grids: Groq, OpenAI gpt-4o-mini, Gemini 1.5 Flash.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55080" y="48006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498348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7059168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WebSocket Telemetry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059168" y="5193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socket.py  ·  /ws/brain/{user_id}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37960" y="54681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bidirectional streaming broadcasts agent internal reasoning.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Streams thinking, action, success, and error events directly to the UI.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Multi-Channel Execution &amp; RAG Pipeline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Results &amp; Production Readiness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Concurrency, caching, live observability, and measured ROI telemetry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493776" cy="49377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72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Loop Concurrency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High-throughput async routing (FastAPI / Uvicorn).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dozens of concurrent graph missions with minimal RAM footprint.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645920"/>
            <a:ext cx="493776" cy="49377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72" dirty="0"/>
          </a:p>
        </p:txBody>
      </p:sp>
      <p:sp>
        <p:nvSpPr>
          <p:cNvPr id="13" name="Text 11"/>
          <p:cNvSpPr/>
          <p:nvPr/>
        </p:nvSpPr>
        <p:spPr>
          <a:xfrm>
            <a:off x="5129784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Response Caching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Deduplicates and caches external calls (Apollo, Hunter.io, Firecrawl).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Cuts third-party data vendor spend by &gt;60% across missions.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645920"/>
            <a:ext cx="493776" cy="49377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HLTH</a:t>
            </a:r>
            <a:endParaRPr lang="en-US" sz="972" dirty="0"/>
          </a:p>
        </p:txBody>
      </p:sp>
      <p:sp>
        <p:nvSpPr>
          <p:cNvPr id="18" name="Text 16"/>
          <p:cNvSpPr/>
          <p:nvPr/>
        </p:nvSpPr>
        <p:spPr>
          <a:xfrm>
            <a:off x="8887968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3608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startup and runtime checks (healthcheck.py, /health).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connection state across all external integrations.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91672" cy="2542032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1353312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ROI Analytics Dashboard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calculation of manual hours saved, prospects verified, deliverability ratios, and thread progression (EmailThread state tracking).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22960" y="48006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498348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792" dirty="0"/>
          </a:p>
        </p:txBody>
      </p:sp>
      <p:sp>
        <p:nvSpPr>
          <p:cNvPr id="28" name="Text 26"/>
          <p:cNvSpPr/>
          <p:nvPr/>
        </p:nvSpPr>
        <p:spPr>
          <a:xfrm>
            <a:off x="1463040" y="5010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Hours Saved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7552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accrual per mission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48006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3592" y="498348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2" name="Text 30"/>
          <p:cNvSpPr/>
          <p:nvPr/>
        </p:nvSpPr>
        <p:spPr>
          <a:xfrm>
            <a:off x="3593592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</a:t>
            </a:r>
            <a:endParaRPr lang="en-US" sz="792" dirty="0"/>
          </a:p>
        </p:txBody>
      </p:sp>
      <p:sp>
        <p:nvSpPr>
          <p:cNvPr id="33" name="Text 31"/>
          <p:cNvSpPr/>
          <p:nvPr/>
        </p:nvSpPr>
        <p:spPr>
          <a:xfrm>
            <a:off x="4069080" y="5010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Verified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93592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1 + Layer 2 pass rate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48006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498348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DLV</a:t>
            </a:r>
            <a:endParaRPr lang="en-US" sz="792" dirty="0"/>
          </a:p>
        </p:txBody>
      </p:sp>
      <p:sp>
        <p:nvSpPr>
          <p:cNvPr id="38" name="Text 36"/>
          <p:cNvSpPr/>
          <p:nvPr/>
        </p:nvSpPr>
        <p:spPr>
          <a:xfrm>
            <a:off x="6675120" y="5010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 Ratio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99632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vs. high-risk contacts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41080" y="4800600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4983480"/>
            <a:ext cx="402336" cy="40233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42" name="Text 40"/>
          <p:cNvSpPr/>
          <p:nvPr/>
        </p:nvSpPr>
        <p:spPr>
          <a:xfrm>
            <a:off x="8805672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</a:t>
            </a:r>
            <a:endParaRPr lang="en-US" sz="792" dirty="0"/>
          </a:p>
        </p:txBody>
      </p:sp>
      <p:sp>
        <p:nvSpPr>
          <p:cNvPr id="43" name="Text 41"/>
          <p:cNvSpPr/>
          <p:nvPr/>
        </p:nvSpPr>
        <p:spPr>
          <a:xfrm>
            <a:off x="9281160" y="5010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Email Threads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805672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EmailThread state tracking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Section 3: Productization Stage &amp; Results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Advantage &amp; Technical Comparison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EXPEDITE's deterministic graph architecture compares to incumbent approaches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493776" cy="49377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72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Databases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Apollo, ZoomInfo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annual seat cost ($10k+)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Static, outdated CSV exports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native drafting capability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77240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deliverability verification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306824" y="14173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45920"/>
            <a:ext cx="493776" cy="493776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972" dirty="0"/>
          </a:p>
        </p:txBody>
      </p:sp>
      <p:sp>
        <p:nvSpPr>
          <p:cNvPr id="17" name="Text 15"/>
          <p:cNvSpPr/>
          <p:nvPr/>
        </p:nvSpPr>
        <p:spPr>
          <a:xfrm>
            <a:off x="5129784" y="1664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LLM Wrappers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9784" y="1965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Custom GPTs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35424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hallucination rates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535424" y="28895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DNS / SMTP check capability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35424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Severe risk of spam flagging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4535424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graph-based orchestration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065008" y="14173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22860">
            <a:solidFill>
              <a:srgbClr val="0369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645920"/>
            <a:ext cx="493776" cy="49377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972" dirty="0"/>
          </a:p>
        </p:txBody>
      </p:sp>
      <p:sp>
        <p:nvSpPr>
          <p:cNvPr id="26" name="Text 24"/>
          <p:cNvSpPr/>
          <p:nvPr/>
        </p:nvSpPr>
        <p:spPr>
          <a:xfrm>
            <a:off x="8887968" y="1664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87968" y="1965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Advantage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93608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deterministic SMTP verification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293608" y="28895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6-channel autonomous execution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293608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Dual local / cloud deployment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8293608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RAG-grounded personalization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&amp; Deployment Models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3566160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623560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756" dirty="0"/>
          </a:p>
        </p:txBody>
      </p:sp>
      <p:sp>
        <p:nvSpPr>
          <p:cNvPr id="36" name="Text 34"/>
          <p:cNvSpPr/>
          <p:nvPr/>
        </p:nvSpPr>
        <p:spPr>
          <a:xfrm>
            <a:off x="1170432" y="5559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Subscription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70432" y="5806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Tiered credit packages for discovery &amp; generation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4306824" y="5440680"/>
            <a:ext cx="3566160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43984" y="5623560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40" name="Text 38"/>
          <p:cNvSpPr/>
          <p:nvPr/>
        </p:nvSpPr>
        <p:spPr>
          <a:xfrm>
            <a:off x="4443984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756" dirty="0"/>
          </a:p>
        </p:txBody>
      </p:sp>
      <p:sp>
        <p:nvSpPr>
          <p:cNvPr id="41" name="Text 39"/>
          <p:cNvSpPr/>
          <p:nvPr/>
        </p:nvSpPr>
        <p:spPr>
          <a:xfrm>
            <a:off x="4928616" y="5559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Edge License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28616" y="5806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MLX deployment for high-compliance sectors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8065008" y="5440680"/>
            <a:ext cx="3566160" cy="822960"/>
          </a:xfrm>
          <a:prstGeom prst="roundRect">
            <a:avLst>
              <a:gd name="adj" fmla="val 7778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02168" y="5623560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45" name="Text 43"/>
          <p:cNvSpPr/>
          <p:nvPr/>
        </p:nvSpPr>
        <p:spPr>
          <a:xfrm>
            <a:off x="8202168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756" dirty="0"/>
          </a:p>
        </p:txBody>
      </p:sp>
      <p:sp>
        <p:nvSpPr>
          <p:cNvPr id="46" name="Text 44"/>
          <p:cNvSpPr/>
          <p:nvPr/>
        </p:nvSpPr>
        <p:spPr>
          <a:xfrm>
            <a:off x="8686800" y="5559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Licensing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86800" y="5806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Proof Ledger + ScoutAgent access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Section 4: Strategic Advantage, Scalability &amp; Business Model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Appendix — System Stack &amp; Reference Artifacts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stack across backend, frontend, desktop, and third-party integration layers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65992" y="3840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1078992"/>
          </a:xfrm>
          <a:prstGeom prst="roundRect">
            <a:avLst>
              <a:gd name="adj" fmla="val 593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Engine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3.12 · FastAPI · LangGraph · SQLModel (SQLite) · Beanie (MongoDB async) · Pydantic v2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6675120" cy="1078992"/>
          </a:xfrm>
          <a:prstGeom prst="roundRect">
            <a:avLst>
              <a:gd name="adj" fmla="val 593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44368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417320" y="28072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Launchpad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1272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· TypeScript · Vite · Tailwind CSS · Shadcn UI / Radix · TanStack Query · React Router v6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6675120" cy="1078992"/>
          </a:xfrm>
          <a:prstGeom prst="roundRect">
            <a:avLst>
              <a:gd name="adj" fmla="val 593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Native Shell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3342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Rust · Tauri v2 (expedite-desktop) · system tray integration · local file system capabilities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84064"/>
            <a:ext cx="6675120" cy="1078992"/>
          </a:xfrm>
          <a:prstGeom prst="roundRect">
            <a:avLst>
              <a:gd name="adj" fmla="val 5932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58384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INTG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1417320" y="52212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 Engine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17320" y="55412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Hunter.io · Apollo · Firecrawl · Composio SDK · Unipile DSN · Vapi Voice SDK · Neo4j AuraDB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Matrix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498080" y="182880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828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DNS MX Lookup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18320" y="2359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2596896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596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smtplib Handshake (HELO / EHLO)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0" y="312724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8080" y="3364992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33649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Deliverability Score Calculation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18320" y="389534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98080" y="4133088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41330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State Transition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498080" y="49377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5120640"/>
            <a:ext cx="411480" cy="411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8183880" y="5074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Repository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183880" y="5321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github.com/aryawadhwa/EXPEDITE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0" y="55961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reference implementation across backend, frontend, and desktop clients.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Technical Appendix &amp; Reference Artifacts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3951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· Autonomous Outbound &amp; Prospect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2026-07-14T14:44:06Z</dcterms:created>
  <dcterms:modified xsi:type="dcterms:W3CDTF">2026-07-14T14:44:06Z</dcterms:modified>
</cp:coreProperties>
</file>